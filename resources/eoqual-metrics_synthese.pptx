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822960" cy="73152"/>
          </a:xfrm>
          <a:prstGeom prst="rect">
            <a:avLst/>
          </a:prstGeom>
          <a:solidFill>
            <a:srgbClr val="3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eoqual-metrics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290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ED9E6"/>
                </a:solidFill>
                <a:latin typeface="Calibri"/>
              </a:rPr>
              <a:t>Bibliothèque Python de métriques de qualité 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9FB3C8"/>
                </a:solidFill>
                <a:latin typeface="Calibri"/>
              </a:rPr>
              <a:t>Full-Reference · No-Reference — un registre unique, des algorithmes interchangeables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12648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dirty="0">
                <a:solidFill>
                  <a:srgbClr val="7C8FA6"/>
                </a:solidFill>
                <a:latin typeface="Calibri"/>
              </a:rPr>
              <a:t>v1.</a:t>
            </a:r>
            <a:r>
              <a:rPr lang="fr-FR" sz="1200" b="0" i="0" dirty="0">
                <a:solidFill>
                  <a:srgbClr val="7C8FA6"/>
                </a:solidFill>
                <a:latin typeface="Calibri"/>
              </a:rPr>
              <a:t>1</a:t>
            </a:r>
            <a:r>
              <a:rPr sz="1200" b="0" i="0" dirty="0">
                <a:solidFill>
                  <a:srgbClr val="7C8FA6"/>
                </a:solidFill>
                <a:latin typeface="Calibri"/>
              </a:rPr>
              <a:t>.0  ·  Olivier Amram  ·  </a:t>
            </a:r>
            <a:r>
              <a:rPr sz="1200" b="0" i="0" dirty="0" err="1">
                <a:solidFill>
                  <a:srgbClr val="7C8FA6"/>
                </a:solidFill>
                <a:latin typeface="Calibri"/>
              </a:rPr>
              <a:t>EOQual</a:t>
            </a:r>
            <a:endParaRPr sz="1200" b="0" i="0" dirty="0">
              <a:solidFill>
                <a:srgbClr val="7C8FA6"/>
              </a:solidFill>
              <a:latin typeface="Calibri"/>
            </a:endParaRPr>
          </a:p>
        </p:txBody>
      </p:sp>
      <p:sp>
        <p:nvSpPr>
          <p:cNvPr id="8" name="Logo Chip"/>
          <p:cNvSpPr/>
          <p:nvPr/>
        </p:nvSpPr>
        <p:spPr>
          <a:xfrm>
            <a:off x="4676000" y="480000"/>
            <a:ext cx="2840000" cy="159546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EOQual Logo" descr="eoqual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000" y="700000"/>
            <a:ext cx="2400000" cy="11554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457200" cy="54864"/>
          </a:xfrm>
          <a:prstGeom prst="rect">
            <a:avLst/>
          </a:prstGeom>
          <a:solidFill>
            <a:srgbClr val="3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673"/>
                </a:solidFill>
                <a:latin typeface="Calibri"/>
              </a:rPr>
              <a:t>PANORAMA DES MÉTRIQUES —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22C"/>
                </a:solidFill>
                <a:latin typeface="Calibri"/>
              </a:rPr>
              <a:t>Full-Reference : comparer une image traitée à sa référence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3624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3624072" cy="54864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783080"/>
            <a:ext cx="32217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22C"/>
                </a:solidFill>
                <a:latin typeface="Calibri"/>
              </a:rPr>
              <a:t>Erreur pixel-à-pixel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258568"/>
            <a:ext cx="3221736" cy="658368"/>
          </a:xfrm>
          <a:prstGeom prst="roundRect">
            <a:avLst>
              <a:gd name="adj" fmla="val 18000"/>
            </a:avLst>
          </a:prstGeom>
          <a:solidFill>
            <a:srgbClr val="E9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359152"/>
            <a:ext cx="29839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E5E8C"/>
                </a:solidFill>
                <a:latin typeface="Consolas"/>
              </a:rPr>
              <a:t>mae · mse · rmse · nrmse · mdae · rmse_sw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063240"/>
            <a:ext cx="322173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673"/>
                </a:solidFill>
                <a:latin typeface="Calibri"/>
              </a:rPr>
              <a:t>Écart brut entre GT et image traitée.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2440" y="1600200"/>
            <a:ext cx="3624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82440" y="1600200"/>
            <a:ext cx="3624072" cy="54864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3608" y="1783080"/>
            <a:ext cx="32217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22C"/>
                </a:solidFill>
                <a:latin typeface="Calibri"/>
              </a:rPr>
              <a:t>Signal / bruit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3608" y="2258568"/>
            <a:ext cx="3221736" cy="658368"/>
          </a:xfrm>
          <a:prstGeom prst="roundRect">
            <a:avLst>
              <a:gd name="adj" fmla="val 18000"/>
            </a:avLst>
          </a:prstGeom>
          <a:solidFill>
            <a:srgbClr val="E9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02480" y="2359152"/>
            <a:ext cx="29839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E5E8C"/>
                </a:solidFill>
                <a:latin typeface="Consolas"/>
              </a:rPr>
              <a:t>psnr · snr · wsnr · psnrb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3608" y="3063240"/>
            <a:ext cx="322173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673"/>
                </a:solidFill>
                <a:latin typeface="Calibri"/>
              </a:rPr>
              <a:t>Rapport signal utile / dégradation.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7680" y="1600200"/>
            <a:ext cx="3624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07680" y="1600200"/>
            <a:ext cx="3624072" cy="54864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08848" y="1783080"/>
            <a:ext cx="32217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22C"/>
                </a:solidFill>
                <a:latin typeface="Calibri"/>
              </a:rPr>
              <a:t>Similarité structurelle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08848" y="2258568"/>
            <a:ext cx="3221736" cy="658368"/>
          </a:xfrm>
          <a:prstGeom prst="roundRect">
            <a:avLst>
              <a:gd name="adj" fmla="val 18000"/>
            </a:avLst>
          </a:prstGeom>
          <a:solidFill>
            <a:srgbClr val="E9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27720" y="2359152"/>
            <a:ext cx="29839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E5E8C"/>
                </a:solidFill>
                <a:latin typeface="Consolas"/>
              </a:rPr>
              <a:t>ssim · msssim · cw_ssim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3063240"/>
            <a:ext cx="322173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673"/>
                </a:solidFill>
                <a:latin typeface="Calibri"/>
              </a:rPr>
              <a:t>Luminance, contraste, structure (perception).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133088"/>
            <a:ext cx="3624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4133088"/>
            <a:ext cx="3624072" cy="54864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" y="4315968"/>
            <a:ext cx="32217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22C"/>
                </a:solidFill>
                <a:latin typeface="Calibri"/>
              </a:rPr>
              <a:t>Corrélation statistique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791456"/>
            <a:ext cx="3221736" cy="658368"/>
          </a:xfrm>
          <a:prstGeom prst="roundRect">
            <a:avLst>
              <a:gd name="adj" fmla="val 18000"/>
            </a:avLst>
          </a:prstGeom>
          <a:solidFill>
            <a:srgbClr val="E9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4892040"/>
            <a:ext cx="29839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E5E8C"/>
                </a:solidFill>
                <a:latin typeface="Consolas"/>
              </a:rPr>
              <a:t>ncc · nmi · scc · uqi · jsd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596128"/>
            <a:ext cx="322173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673"/>
                </a:solidFill>
                <a:latin typeface="Calibri"/>
              </a:rPr>
              <a:t>Dépendance statistique entre les deux images.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82440" y="4133088"/>
            <a:ext cx="3624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82440" y="4133088"/>
            <a:ext cx="3624072" cy="54864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83608" y="4315968"/>
            <a:ext cx="32217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22C"/>
                </a:solidFill>
                <a:latin typeface="Calibri"/>
              </a:rPr>
              <a:t>Perceptuelle / apprise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3608" y="4791456"/>
            <a:ext cx="3221736" cy="658368"/>
          </a:xfrm>
          <a:prstGeom prst="roundRect">
            <a:avLst>
              <a:gd name="adj" fmla="val 18000"/>
            </a:avLst>
          </a:prstGeom>
          <a:solidFill>
            <a:srgbClr val="E9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02480" y="4892040"/>
            <a:ext cx="29839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E5E8C"/>
                </a:solidFill>
                <a:latin typeface="Consolas"/>
              </a:rPr>
              <a:t>vif · fsim · gmsd · dists · vsi · nlpd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3608" y="5596128"/>
            <a:ext cx="322173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673"/>
                </a:solidFill>
                <a:latin typeface="Calibri"/>
              </a:rPr>
              <a:t>Modèles perceptifs, parfois deep learning.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7680" y="4133088"/>
            <a:ext cx="3624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107680" y="4133088"/>
            <a:ext cx="3624072" cy="54864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08848" y="4315968"/>
            <a:ext cx="32217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22C"/>
                </a:solidFill>
                <a:latin typeface="Calibri"/>
              </a:rPr>
              <a:t>Spectrale / télédétection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08848" y="4791456"/>
            <a:ext cx="3221736" cy="658368"/>
          </a:xfrm>
          <a:prstGeom prst="roundRect">
            <a:avLst>
              <a:gd name="adj" fmla="val 18000"/>
            </a:avLst>
          </a:prstGeom>
          <a:solidFill>
            <a:srgbClr val="E9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27720" y="4892040"/>
            <a:ext cx="29839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2E5E8C"/>
                </a:solidFill>
                <a:latin typeface="Consolas"/>
              </a:rPr>
              <a:t>ergas · sam · sre · rase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8848" y="5596128"/>
            <a:ext cx="3221736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673"/>
                </a:solidFill>
                <a:latin typeface="Calibri"/>
              </a:rPr>
              <a:t>Fidélité spectrale multi-bandes (EO/satellite).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3"/>
                </a:solidFill>
                <a:latin typeface="Calibri"/>
              </a:rPr>
              <a:t>eoqual-metrics — synthèse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673"/>
                </a:solidFill>
                <a:latin typeface="Calibri"/>
              </a:rPr>
              <a:t>2</a:t>
            </a:r>
          </a:p>
        </p:txBody>
      </p:sp>
      <p:pic>
        <p:nvPicPr>
          <p:cNvPr id="44" name="EOQual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633" y="170000"/>
            <a:ext cx="934687" cy="45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457200" cy="54864"/>
          </a:xfrm>
          <a:prstGeom prst="rect">
            <a:avLst/>
          </a:prstGeom>
          <a:solidFill>
            <a:srgbClr val="3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673"/>
                </a:solidFill>
                <a:latin typeface="Calibri"/>
              </a:rPr>
              <a:t>PANORAMA DES MÉTRIQUES —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22C"/>
                </a:solidFill>
                <a:latin typeface="Calibri"/>
              </a:rPr>
              <a:t>No-Reference : évaluer une image seule, sans vérité terrain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3624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3624072" cy="54864"/>
          </a:xfrm>
          <a:prstGeom prst="rect">
            <a:avLst/>
          </a:prstGeom>
          <a:solidFill>
            <a:srgbClr val="B5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783080"/>
            <a:ext cx="32217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22C"/>
                </a:solidFill>
                <a:latin typeface="Calibri"/>
              </a:rPr>
              <a:t>Blind IQA (BIQA)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258568"/>
            <a:ext cx="3221736" cy="566928"/>
          </a:xfrm>
          <a:prstGeom prst="roundRect">
            <a:avLst>
              <a:gd name="adj" fmla="val 18000"/>
            </a:avLst>
          </a:prstGeom>
          <a:solidFill>
            <a:srgbClr val="FB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331720"/>
            <a:ext cx="303885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55A1F"/>
                </a:solidFill>
                <a:latin typeface="Consolas"/>
              </a:rPr>
              <a:t>brisque · niqe · piqe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971800"/>
            <a:ext cx="322173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673"/>
                </a:solidFill>
                <a:latin typeface="Calibri"/>
              </a:rPr>
              <a:t>Scores appris statistiquement, sans référence.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2440" y="1600200"/>
            <a:ext cx="3624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82440" y="1600200"/>
            <a:ext cx="3624072" cy="54864"/>
          </a:xfrm>
          <a:prstGeom prst="rect">
            <a:avLst/>
          </a:prstGeom>
          <a:solidFill>
            <a:srgbClr val="B5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3608" y="1783080"/>
            <a:ext cx="32217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22C"/>
                </a:solidFill>
                <a:latin typeface="Calibri"/>
              </a:rPr>
              <a:t>Focus / entropie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3608" y="2258568"/>
            <a:ext cx="3221736" cy="566928"/>
          </a:xfrm>
          <a:prstGeom prst="roundRect">
            <a:avLst>
              <a:gd name="adj" fmla="val 18000"/>
            </a:avLst>
          </a:prstGeom>
          <a:solidFill>
            <a:srgbClr val="FB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5048" y="2331720"/>
            <a:ext cx="303885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55A1F"/>
                </a:solidFill>
                <a:latin typeface="Consolas"/>
              </a:rPr>
              <a:t>entropy · fmeasure (27 variantes)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3608" y="2971800"/>
            <a:ext cx="322173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673"/>
                </a:solidFill>
                <a:latin typeface="Calibri"/>
              </a:rPr>
              <a:t>Richesse d'information, mise au point (MAP).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7680" y="1600200"/>
            <a:ext cx="3624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07680" y="1600200"/>
            <a:ext cx="3624072" cy="54864"/>
          </a:xfrm>
          <a:prstGeom prst="rect">
            <a:avLst/>
          </a:prstGeom>
          <a:solidFill>
            <a:srgbClr val="B5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08848" y="1783080"/>
            <a:ext cx="32217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22C"/>
                </a:solidFill>
                <a:latin typeface="Calibri"/>
              </a:rPr>
              <a:t>Netteté — gradient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08848" y="2258568"/>
            <a:ext cx="3221736" cy="566928"/>
          </a:xfrm>
          <a:prstGeom prst="roundRect">
            <a:avLst>
              <a:gd name="adj" fmla="val 18000"/>
            </a:avLst>
          </a:prstGeom>
          <a:solidFill>
            <a:srgbClr val="FB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00288" y="2331720"/>
            <a:ext cx="303885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55A1F"/>
                </a:solidFill>
                <a:latin typeface="Consolas"/>
              </a:rPr>
              <a:t>tenengrad_otsu · laplacian · sobel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8848" y="2971800"/>
            <a:ext cx="322173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673"/>
                </a:solidFill>
                <a:latin typeface="Calibri"/>
              </a:rPr>
              <a:t>Énergie des contours locaux.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133088"/>
            <a:ext cx="3624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4133088"/>
            <a:ext cx="3624072" cy="54864"/>
          </a:xfrm>
          <a:prstGeom prst="rect">
            <a:avLst/>
          </a:prstGeom>
          <a:solidFill>
            <a:srgbClr val="B5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" y="4315968"/>
            <a:ext cx="32217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22C"/>
                </a:solidFill>
                <a:latin typeface="Calibri"/>
              </a:rPr>
              <a:t>Netteté — phase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791456"/>
            <a:ext cx="3221736" cy="566928"/>
          </a:xfrm>
          <a:prstGeom prst="roundRect">
            <a:avLst>
              <a:gd name="adj" fmla="val 18000"/>
            </a:avLst>
          </a:prstGeom>
          <a:solidFill>
            <a:srgbClr val="FB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9808" y="4864608"/>
            <a:ext cx="303885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55A1F"/>
                </a:solidFill>
                <a:latin typeface="Consolas"/>
              </a:rPr>
              <a:t>lpc_si · psi · sharpness_index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504688"/>
            <a:ext cx="322173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673"/>
                </a:solidFill>
                <a:latin typeface="Calibri"/>
              </a:rPr>
              <a:t>Cohérence de phase des contours.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82440" y="4133088"/>
            <a:ext cx="3624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82440" y="4133088"/>
            <a:ext cx="3624072" cy="54864"/>
          </a:xfrm>
          <a:prstGeom prst="rect">
            <a:avLst/>
          </a:prstGeom>
          <a:solidFill>
            <a:srgbClr val="B55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83608" y="4315968"/>
            <a:ext cx="32217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22C"/>
                </a:solidFill>
                <a:latin typeface="Calibri"/>
              </a:rPr>
              <a:t>Netteté — spectral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3608" y="4791456"/>
            <a:ext cx="3221736" cy="566928"/>
          </a:xfrm>
          <a:prstGeom prst="roundRect">
            <a:avLst>
              <a:gd name="adj" fmla="val 18000"/>
            </a:avLst>
          </a:prstGeom>
          <a:solidFill>
            <a:srgbClr val="FB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5048" y="4864608"/>
            <a:ext cx="3038856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55A1F"/>
                </a:solidFill>
                <a:latin typeface="Consolas"/>
              </a:rPr>
              <a:t>s3 · mtf · cpbd · blur_effect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3608" y="5504688"/>
            <a:ext cx="322173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673"/>
                </a:solidFill>
                <a:latin typeface="Calibri"/>
              </a:rPr>
              <a:t>Contenu fréquentiel (s3, mtf) et détection de flou (cpbd, blur_effect).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7680" y="4133088"/>
            <a:ext cx="362407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E8E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107680" y="4133088"/>
            <a:ext cx="3624072" cy="54864"/>
          </a:xfrm>
          <a:prstGeom prst="rect">
            <a:avLst/>
          </a:prstGeom>
          <a:solidFill>
            <a:srgbClr val="3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08848" y="4315968"/>
            <a:ext cx="322173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222C"/>
                </a:solidFill>
                <a:latin typeface="Calibri"/>
              </a:rPr>
              <a:t>Netteté — satellite ★ nouveau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08848" y="4791456"/>
            <a:ext cx="3221736" cy="822960"/>
          </a:xfrm>
          <a:prstGeom prst="roundRect">
            <a:avLst>
              <a:gd name="adj" fmla="val 18000"/>
            </a:avLst>
          </a:prstGeom>
          <a:solidFill>
            <a:srgbClr val="FB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00288" y="4864608"/>
            <a:ext cx="303885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B55A1F"/>
                </a:solidFill>
                <a:latin typeface="Consolas"/>
              </a:rPr>
              <a:t>brenner_vertical · fft · antonel · blur_kernel · wavelet · aem · sasbem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8848" y="5705856"/>
            <a:ext cx="3221736" cy="59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fr-FR" sz="1150" b="0" i="0" noProof="0" dirty="0" err="1">
                <a:solidFill>
                  <a:srgbClr val="5B6673"/>
                </a:solidFill>
                <a:latin typeface="Calibri"/>
              </a:rPr>
              <a:t>aem</a:t>
            </a:r>
            <a:r>
              <a:rPr lang="fr-FR" sz="1150" b="0" i="0" noProof="0" dirty="0">
                <a:solidFill>
                  <a:srgbClr val="5B6673"/>
                </a:solidFill>
                <a:latin typeface="Calibri"/>
              </a:rPr>
              <a:t>/</a:t>
            </a:r>
            <a:r>
              <a:rPr lang="fr-FR" sz="1150" b="0" i="0" noProof="0" dirty="0" err="1">
                <a:solidFill>
                  <a:srgbClr val="5B6673"/>
                </a:solidFill>
                <a:latin typeface="Calibri"/>
              </a:rPr>
              <a:t>sasbem</a:t>
            </a:r>
            <a:r>
              <a:rPr lang="fr-FR" sz="1150" b="0" i="0" noProof="0" dirty="0">
                <a:solidFill>
                  <a:srgbClr val="5B6673"/>
                </a:solidFill>
                <a:latin typeface="Calibri"/>
              </a:rPr>
              <a:t> : </a:t>
            </a:r>
            <a:r>
              <a:rPr lang="fr-FR" sz="1150" b="0" i="0" noProof="0" dirty="0" err="1">
                <a:solidFill>
                  <a:srgbClr val="5B6673"/>
                </a:solidFill>
                <a:latin typeface="Calibri"/>
              </a:rPr>
              <a:t>MTF@Nyquist</a:t>
            </a:r>
            <a:r>
              <a:rPr lang="fr-FR" sz="1150" b="0" i="0" noProof="0" dirty="0">
                <a:solidFill>
                  <a:srgbClr val="5B6673"/>
                </a:solidFill>
                <a:latin typeface="Calibri"/>
              </a:rPr>
              <a:t> calibrée (ISO 12233) sur arêtes naturelles — seules métriques physiquement comparables entre capteurs/dates.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3"/>
                </a:solidFill>
                <a:latin typeface="Calibri"/>
              </a:rPr>
              <a:t>eoqual-metrics — synthèse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673"/>
                </a:solidFill>
                <a:latin typeface="Calibri"/>
              </a:rPr>
              <a:t>3</a:t>
            </a:r>
          </a:p>
        </p:txBody>
      </p:sp>
      <p:pic>
        <p:nvPicPr>
          <p:cNvPr id="44" name="EOQual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633" y="170000"/>
            <a:ext cx="934687" cy="45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457200" cy="54864"/>
          </a:xfrm>
          <a:prstGeom prst="rect">
            <a:avLst/>
          </a:prstGeom>
          <a:solidFill>
            <a:srgbClr val="3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673"/>
                </a:solidFill>
                <a:latin typeface="Calibri"/>
              </a:rPr>
              <a:t>PRISE EN 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22C"/>
                </a:solidFill>
                <a:latin typeface="Calibri"/>
              </a:rPr>
              <a:t>Deux façons d'utiliser la librairie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539496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5394960" cy="54864"/>
          </a:xfrm>
          <a:prstGeom prst="rect">
            <a:avLst/>
          </a:prstGeom>
          <a:solidFill>
            <a:srgbClr val="3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819656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22C"/>
                </a:solidFill>
                <a:latin typeface="Calibri"/>
              </a:rPr>
              <a:t>① Appel direct d'une métrique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2199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673"/>
                </a:solidFill>
                <a:latin typeface="Calibri"/>
              </a:rPr>
              <a:t>Chaque métrique est une simple fonction Python, avec un algorithme par défaut.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4846320" cy="1874520"/>
          </a:xfrm>
          <a:prstGeom prst="roundRect">
            <a:avLst>
              <a:gd name="adj" fmla="val 5000"/>
            </a:avLst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971800"/>
            <a:ext cx="43891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 dirty="0">
                <a:solidFill>
                  <a:srgbClr val="E8EEF4"/>
                </a:solidFill>
                <a:latin typeface="Consolas"/>
              </a:rPr>
              <a:t>import </a:t>
            </a:r>
            <a:r>
              <a:rPr sz="1150" b="0" i="0" dirty="0" err="1">
                <a:solidFill>
                  <a:srgbClr val="E8EEF4"/>
                </a:solidFill>
                <a:latin typeface="Consolas"/>
              </a:rPr>
              <a:t>eoqual.metrics</a:t>
            </a:r>
            <a:r>
              <a:rPr sz="1150" b="0" i="0" dirty="0">
                <a:solidFill>
                  <a:srgbClr val="E8EEF4"/>
                </a:solidFill>
                <a:latin typeface="Consolas"/>
              </a:rPr>
              <a:t> as m</a:t>
            </a:r>
          </a:p>
          <a:p>
            <a:pPr algn="l">
              <a:lnSpc>
                <a:spcPct val="125000"/>
              </a:lnSpc>
            </a:pPr>
            <a:r>
              <a:rPr sz="1150" b="0" i="0" dirty="0">
                <a:solidFill>
                  <a:srgbClr val="E8EEF4"/>
                </a:solidFill>
                <a:latin typeface="Consolas"/>
              </a:rPr>
              <a:t>score = </a:t>
            </a:r>
            <a:r>
              <a:rPr sz="1150" b="0" i="0" dirty="0" err="1">
                <a:solidFill>
                  <a:srgbClr val="E8EEF4"/>
                </a:solidFill>
                <a:latin typeface="Consolas"/>
              </a:rPr>
              <a:t>m.psnr</a:t>
            </a:r>
            <a:r>
              <a:rPr sz="1150" b="0" i="0" dirty="0">
                <a:solidFill>
                  <a:srgbClr val="E8EEF4"/>
                </a:solidFill>
                <a:latin typeface="Consolas"/>
              </a:rPr>
              <a:t>(GT, P)</a:t>
            </a:r>
          </a:p>
          <a:p>
            <a:pPr algn="l">
              <a:lnSpc>
                <a:spcPct val="125000"/>
              </a:lnSpc>
            </a:pPr>
            <a:r>
              <a:rPr sz="1150" b="0" i="0" dirty="0">
                <a:solidFill>
                  <a:srgbClr val="E8EEF4"/>
                </a:solidFill>
                <a:latin typeface="Consolas"/>
              </a:rPr>
              <a:t>score = </a:t>
            </a:r>
            <a:r>
              <a:rPr sz="1150" b="0" i="0" dirty="0" err="1">
                <a:solidFill>
                  <a:srgbClr val="E8EEF4"/>
                </a:solidFill>
                <a:latin typeface="Consolas"/>
              </a:rPr>
              <a:t>m.ssim</a:t>
            </a:r>
            <a:r>
              <a:rPr sz="1150" b="0" i="0" dirty="0">
                <a:solidFill>
                  <a:srgbClr val="E8EEF4"/>
                </a:solidFill>
                <a:latin typeface="Consolas"/>
              </a:rPr>
              <a:t>(GT, P, algo="</a:t>
            </a:r>
            <a:r>
              <a:rPr sz="1150" b="0" i="0" dirty="0" err="1">
                <a:solidFill>
                  <a:srgbClr val="E8EEF4"/>
                </a:solidFill>
                <a:latin typeface="Consolas"/>
              </a:rPr>
              <a:t>skimage</a:t>
            </a:r>
            <a:r>
              <a:rPr sz="1150" b="0" i="0" dirty="0">
                <a:solidFill>
                  <a:srgbClr val="E8EEF4"/>
                </a:solidFill>
                <a:latin typeface="Consolas"/>
              </a:rPr>
              <a:t>")</a:t>
            </a:r>
          </a:p>
          <a:p>
            <a:pPr algn="l">
              <a:lnSpc>
                <a:spcPct val="125000"/>
              </a:lnSpc>
            </a:pPr>
            <a:r>
              <a:rPr sz="1150" b="0" i="0" dirty="0">
                <a:solidFill>
                  <a:srgbClr val="E8EEF4"/>
                </a:solidFill>
                <a:latin typeface="Consolas"/>
              </a:rPr>
              <a:t># No-Reference (</a:t>
            </a:r>
            <a:r>
              <a:rPr sz="1150" b="0" i="0" dirty="0" err="1">
                <a:solidFill>
                  <a:srgbClr val="E8EEF4"/>
                </a:solidFill>
                <a:latin typeface="Consolas"/>
              </a:rPr>
              <a:t>une</a:t>
            </a:r>
            <a:r>
              <a:rPr sz="1150" b="0" i="0" dirty="0">
                <a:solidFill>
                  <a:srgbClr val="E8EEF4"/>
                </a:solidFill>
                <a:latin typeface="Consolas"/>
              </a:rPr>
              <a:t> </a:t>
            </a:r>
            <a:r>
              <a:rPr sz="1150" b="0" i="0" dirty="0" err="1">
                <a:solidFill>
                  <a:srgbClr val="E8EEF4"/>
                </a:solidFill>
                <a:latin typeface="Consolas"/>
              </a:rPr>
              <a:t>seule</a:t>
            </a:r>
            <a:r>
              <a:rPr sz="1150" b="0" i="0" dirty="0">
                <a:solidFill>
                  <a:srgbClr val="E8EEF4"/>
                </a:solidFill>
                <a:latin typeface="Consolas"/>
              </a:rPr>
              <a:t> image)</a:t>
            </a:r>
          </a:p>
          <a:p>
            <a:pPr algn="l">
              <a:lnSpc>
                <a:spcPct val="125000"/>
              </a:lnSpc>
            </a:pPr>
            <a:r>
              <a:rPr sz="1150" b="0" i="0" dirty="0">
                <a:solidFill>
                  <a:srgbClr val="E8EEF4"/>
                </a:solidFill>
                <a:latin typeface="Consolas"/>
              </a:rPr>
              <a:t>score = </a:t>
            </a:r>
            <a:r>
              <a:rPr sz="1150" b="0" i="0" dirty="0" err="1">
                <a:solidFill>
                  <a:srgbClr val="E8EEF4"/>
                </a:solidFill>
                <a:latin typeface="Consolas"/>
              </a:rPr>
              <a:t>m.sharpness</a:t>
            </a:r>
            <a:r>
              <a:rPr sz="1150" b="0" i="0" dirty="0">
                <a:solidFill>
                  <a:srgbClr val="E8EEF4"/>
                </a:solidFill>
                <a:latin typeface="Consolas"/>
              </a:rPr>
              <a:t>(P, algo="</a:t>
            </a:r>
            <a:r>
              <a:rPr sz="1150" b="0" i="0" dirty="0" err="1">
                <a:solidFill>
                  <a:srgbClr val="E8EEF4"/>
                </a:solidFill>
                <a:latin typeface="Consolas"/>
              </a:rPr>
              <a:t>tenengrad_otsu</a:t>
            </a:r>
            <a:r>
              <a:rPr sz="1150" b="0" i="0" dirty="0">
                <a:solidFill>
                  <a:srgbClr val="E8EEF4"/>
                </a:solidFill>
                <a:latin typeface="Consolas"/>
              </a:rPr>
              <a:t>")</a:t>
            </a:r>
          </a:p>
          <a:p>
            <a:pPr algn="l">
              <a:lnSpc>
                <a:spcPct val="125000"/>
              </a:lnSpc>
            </a:pPr>
            <a:r>
              <a:rPr sz="1150" b="0" i="0" dirty="0">
                <a:solidFill>
                  <a:srgbClr val="E8EEF4"/>
                </a:solidFill>
                <a:latin typeface="Consolas"/>
              </a:rPr>
              <a:t>score = </a:t>
            </a:r>
            <a:r>
              <a:rPr sz="1150" b="0" i="0" dirty="0" err="1">
                <a:solidFill>
                  <a:srgbClr val="E8EEF4"/>
                </a:solidFill>
                <a:latin typeface="Consolas"/>
              </a:rPr>
              <a:t>m.brisque</a:t>
            </a:r>
            <a:r>
              <a:rPr sz="1150" b="0" i="0" dirty="0">
                <a:solidFill>
                  <a:srgbClr val="E8EEF4"/>
                </a:solidFill>
                <a:latin typeface="Consolas"/>
              </a:rPr>
              <a:t>(P)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63440"/>
            <a:ext cx="48463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 dirty="0">
                <a:solidFill>
                  <a:srgbClr val="5B6673"/>
                </a:solidFill>
                <a:latin typeface="Calibri"/>
              </a:rPr>
              <a:t>→ </a:t>
            </a:r>
            <a:r>
              <a:rPr sz="1300" b="0" i="0" dirty="0" err="1">
                <a:solidFill>
                  <a:srgbClr val="5B6673"/>
                </a:solidFill>
                <a:latin typeface="Calibri"/>
              </a:rPr>
              <a:t>Idéal</a:t>
            </a:r>
            <a:r>
              <a:rPr sz="1300" b="0" i="0" dirty="0">
                <a:solidFill>
                  <a:srgbClr val="5B6673"/>
                </a:solidFill>
                <a:latin typeface="Calibri"/>
              </a:rPr>
              <a:t> pour un test </a:t>
            </a:r>
            <a:r>
              <a:rPr sz="1300" b="0" i="0" dirty="0" err="1">
                <a:solidFill>
                  <a:srgbClr val="5B6673"/>
                </a:solidFill>
                <a:latin typeface="Calibri"/>
              </a:rPr>
              <a:t>ponctuel</a:t>
            </a:r>
            <a:r>
              <a:rPr sz="1300" b="0" i="0" dirty="0">
                <a:solidFill>
                  <a:srgbClr val="5B6673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5B6673"/>
                </a:solidFill>
                <a:latin typeface="Calibri"/>
              </a:rPr>
              <a:t>ou</a:t>
            </a:r>
            <a:r>
              <a:rPr sz="1300" b="0" i="0" dirty="0">
                <a:solidFill>
                  <a:srgbClr val="5B6673"/>
                </a:solidFill>
                <a:latin typeface="Calibri"/>
              </a:rPr>
              <a:t> un script simple.</a:t>
            </a:r>
          </a:p>
          <a:p>
            <a:pPr algn="l">
              <a:lnSpc>
                <a:spcPct val="130000"/>
              </a:lnSpc>
            </a:pPr>
            <a:r>
              <a:rPr sz="1300" b="0" i="0" dirty="0">
                <a:solidFill>
                  <a:srgbClr val="5B6673"/>
                </a:solidFill>
                <a:latin typeface="Calibri"/>
              </a:rPr>
              <a:t>→ Le </a:t>
            </a:r>
            <a:r>
              <a:rPr sz="1300" b="0" i="0" dirty="0" err="1">
                <a:solidFill>
                  <a:srgbClr val="5B6673"/>
                </a:solidFill>
                <a:latin typeface="Calibri"/>
              </a:rPr>
              <a:t>paramètre</a:t>
            </a:r>
            <a:r>
              <a:rPr sz="1300" b="0" i="0" dirty="0">
                <a:solidFill>
                  <a:srgbClr val="5B6673"/>
                </a:solidFill>
                <a:latin typeface="Calibri"/>
              </a:rPr>
              <a:t> algo= permute </a:t>
            </a:r>
            <a:r>
              <a:rPr sz="1300" b="0" i="0" dirty="0" err="1">
                <a:solidFill>
                  <a:srgbClr val="5B6673"/>
                </a:solidFill>
                <a:latin typeface="Calibri"/>
              </a:rPr>
              <a:t>librement</a:t>
            </a:r>
            <a:r>
              <a:rPr sz="1300" b="0" i="0" dirty="0">
                <a:solidFill>
                  <a:srgbClr val="5B6673"/>
                </a:solidFill>
                <a:latin typeface="Calibri"/>
              </a:rPr>
              <a:t> le backend</a:t>
            </a:r>
          </a:p>
          <a:p>
            <a:pPr algn="l">
              <a:lnSpc>
                <a:spcPct val="130000"/>
              </a:lnSpc>
            </a:pPr>
            <a:r>
              <a:rPr sz="1300" b="0" i="0" dirty="0">
                <a:solidFill>
                  <a:srgbClr val="5B6673"/>
                </a:solidFill>
                <a:latin typeface="Calibri"/>
              </a:rPr>
              <a:t>   (</a:t>
            </a:r>
            <a:r>
              <a:rPr sz="1300" b="0" i="0" dirty="0" err="1">
                <a:solidFill>
                  <a:srgbClr val="5B6673"/>
                </a:solidFill>
                <a:latin typeface="Calibri"/>
              </a:rPr>
              <a:t>numpy</a:t>
            </a:r>
            <a:r>
              <a:rPr sz="1300" b="0" i="0" dirty="0">
                <a:solidFill>
                  <a:srgbClr val="5B6673"/>
                </a:solidFill>
                <a:latin typeface="Calibri"/>
              </a:rPr>
              <a:t>, </a:t>
            </a:r>
            <a:r>
              <a:rPr sz="1300" b="0" i="0" dirty="0" err="1">
                <a:solidFill>
                  <a:srgbClr val="5B6673"/>
                </a:solidFill>
                <a:latin typeface="Calibri"/>
              </a:rPr>
              <a:t>skimage</a:t>
            </a:r>
            <a:r>
              <a:rPr sz="1300" b="0" i="0" dirty="0">
                <a:solidFill>
                  <a:srgbClr val="5B6673"/>
                </a:solidFill>
                <a:latin typeface="Calibri"/>
              </a:rPr>
              <a:t>, sewar, </a:t>
            </a:r>
            <a:r>
              <a:rPr sz="1300" b="0" i="0" dirty="0" err="1">
                <a:solidFill>
                  <a:srgbClr val="5B6673"/>
                </a:solidFill>
                <a:latin typeface="Calibri"/>
              </a:rPr>
              <a:t>metrikz</a:t>
            </a:r>
            <a:r>
              <a:rPr sz="1300" b="0" i="0" dirty="0">
                <a:solidFill>
                  <a:srgbClr val="5B6673"/>
                </a:solidFill>
                <a:latin typeface="Calibri"/>
              </a:rPr>
              <a:t>, </a:t>
            </a:r>
            <a:r>
              <a:rPr sz="1300" b="0" i="0" dirty="0" err="1">
                <a:solidFill>
                  <a:srgbClr val="5B6673"/>
                </a:solidFill>
                <a:latin typeface="Calibri"/>
              </a:rPr>
              <a:t>piq</a:t>
            </a:r>
            <a:r>
              <a:rPr sz="1300" b="0" i="0" dirty="0">
                <a:solidFill>
                  <a:srgbClr val="5B6673"/>
                </a:solidFill>
                <a:latin typeface="Calibri"/>
              </a:rPr>
              <a:t>…)</a:t>
            </a:r>
          </a:p>
          <a:p>
            <a:pPr algn="l">
              <a:lnSpc>
                <a:spcPct val="130000"/>
              </a:lnSpc>
            </a:pPr>
            <a:r>
              <a:rPr sz="1300" b="0" i="0" dirty="0">
                <a:solidFill>
                  <a:srgbClr val="5B6673"/>
                </a:solidFill>
                <a:latin typeface="Calibri"/>
              </a:rPr>
              <a:t>   sans changer le </a:t>
            </a:r>
            <a:r>
              <a:rPr sz="1300" b="0" i="0" dirty="0" err="1">
                <a:solidFill>
                  <a:srgbClr val="5B6673"/>
                </a:solidFill>
                <a:latin typeface="Calibri"/>
              </a:rPr>
              <a:t>reste</a:t>
            </a:r>
            <a:r>
              <a:rPr sz="1300" b="0" i="0" dirty="0">
                <a:solidFill>
                  <a:srgbClr val="5B6673"/>
                </a:solidFill>
                <a:latin typeface="Calibri"/>
              </a:rPr>
              <a:t> du code.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00200"/>
            <a:ext cx="539496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1600200"/>
            <a:ext cx="5394960" cy="54864"/>
          </a:xfrm>
          <a:prstGeom prst="rect">
            <a:avLst/>
          </a:prstGeom>
          <a:solidFill>
            <a:srgbClr val="2E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819656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22C"/>
                </a:solidFill>
                <a:latin typeface="Calibri"/>
              </a:rPr>
              <a:t>② MetricsRunner — traitement par 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2199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673"/>
                </a:solidFill>
                <a:latin typeface="Calibri"/>
              </a:rPr>
              <a:t>Orchestrateur : calcule un ensemble de métriques sur plusieurs paires d'images, accumule et exporte.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788920"/>
            <a:ext cx="4846320" cy="3063240"/>
          </a:xfrm>
          <a:prstGeom prst="roundRect">
            <a:avLst>
              <a:gd name="adj" fmla="val 5000"/>
            </a:avLst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2926080"/>
            <a:ext cx="438912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8EEF4"/>
                </a:solidFill>
                <a:latin typeface="Consolas"/>
              </a:rPr>
              <a:t>from eoqual.metrics.runner import MetricsRunner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8EEF4"/>
                </a:solidFill>
                <a:latin typeface="Consolas"/>
              </a:rPr>
              <a:t>from eoqual.metrics.export.console import display_table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8EEF4"/>
                </a:solidFill>
                <a:latin typeface="Consolas"/>
              </a:rPr>
              <a:t>from eoqual.metrics.export.csv import save_csv</a:t>
            </a:r>
          </a:p>
          <a:p>
            <a:pPr algn="l">
              <a:lnSpc>
                <a:spcPct val="120000"/>
              </a:lnSpc>
            </a:pPr>
            <a:endParaRPr sz="1150" b="0" i="0">
              <a:solidFill>
                <a:srgbClr val="E8EEF4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8EEF4"/>
                </a:solidFill>
                <a:latin typeface="Consolas"/>
              </a:rPr>
              <a:t>runner = MetricsRunner(bands="GRAY",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8EEF4"/>
                </a:solidFill>
                <a:latin typeface="Consolas"/>
              </a:rPr>
              <a:t>    metrics={"psnr": "numpy", "ssim": "skimage"})</a:t>
            </a:r>
          </a:p>
          <a:p>
            <a:pPr algn="l">
              <a:lnSpc>
                <a:spcPct val="120000"/>
              </a:lnSpc>
            </a:pPr>
            <a:endParaRPr sz="1150" b="0" i="0">
              <a:solidFill>
                <a:srgbClr val="E8EEF4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8EEF4"/>
                </a:solidFill>
                <a:latin typeface="Consolas"/>
              </a:rPr>
              <a:t>for gt, p in image_pairs: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8EEF4"/>
                </a:solidFill>
                <a:latin typeface="Consolas"/>
              </a:rPr>
              <a:t>    runner.compute(gt, p)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8EEF4"/>
                </a:solidFill>
                <a:latin typeface="Consolas"/>
              </a:rPr>
              <a:t>    runner.accumulate()</a:t>
            </a:r>
          </a:p>
          <a:p>
            <a:pPr algn="l">
              <a:lnSpc>
                <a:spcPct val="120000"/>
              </a:lnSpc>
            </a:pPr>
            <a:endParaRPr sz="1150" b="0" i="0">
              <a:solidFill>
                <a:srgbClr val="E8EEF4"/>
              </a:solidFill>
              <a:latin typeface="Consolas"/>
            </a:endParaRP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8EEF4"/>
                </a:solidFill>
                <a:latin typeface="Consolas"/>
              </a:rPr>
              <a:t>display_table(runner.results_accumulated, ...)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E8EEF4"/>
                </a:solidFill>
                <a:latin typeface="Consolas"/>
              </a:rPr>
              <a:t>save_csv(runner.results_accumulated, "out.csv")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3"/>
                </a:solidFill>
                <a:latin typeface="Calibri"/>
              </a:rPr>
              <a:t>eoqual-metrics — synthèse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673"/>
                </a:solidFill>
                <a:latin typeface="Calibri"/>
              </a:rPr>
              <a:t>4</a:t>
            </a:r>
          </a:p>
        </p:txBody>
      </p:sp>
      <p:pic>
        <p:nvPicPr>
          <p:cNvPr id="21" name="EOQual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633" y="170000"/>
            <a:ext cx="934687" cy="45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84048"/>
            <a:ext cx="457200" cy="54864"/>
          </a:xfrm>
          <a:prstGeom prst="rect">
            <a:avLst/>
          </a:prstGeom>
          <a:solidFill>
            <a:srgbClr val="3E8E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673"/>
                </a:solidFill>
                <a:latin typeface="Calibri"/>
              </a:rPr>
              <a:t>À RETENIR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22C"/>
                </a:solidFill>
                <a:latin typeface="Calibri"/>
              </a:rPr>
              <a:t>Un registre central pilote tout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47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B6673"/>
                </a:solidFill>
                <a:latin typeface="Calibri"/>
              </a:rPr>
              <a:t>METRICS_CONFIGS recense, pour chaque métrique : ses algorithmes disponibles, son algorithme par défaut, son mode (FR/NR) et son sens d'optimalité (↓ ou ↑ meilleur).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266776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266776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3E8E7E"/>
                </a:solidFill>
                <a:latin typeface="Calibri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83280"/>
            <a:ext cx="239344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B222C"/>
                </a:solidFill>
                <a:latin typeface="Calibri"/>
              </a:rPr>
              <a:t>métriques FR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749040"/>
            <a:ext cx="239344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B6673"/>
                </a:solidFill>
                <a:latin typeface="Calibri"/>
              </a:rPr>
              <a:t>cataloguées, dont plusieurs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B6673"/>
                </a:solidFill>
                <a:latin typeface="Calibri"/>
              </a:rPr>
              <a:t>backends chacune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6130" y="2331720"/>
            <a:ext cx="266776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26130" y="2560320"/>
            <a:ext cx="266776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3E8E7E"/>
                </a:solidFill>
                <a:latin typeface="Calibr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3290" y="3383280"/>
            <a:ext cx="239344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B222C"/>
                </a:solidFill>
                <a:latin typeface="Calibri"/>
              </a:rPr>
              <a:t>métriques NR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3290" y="3749040"/>
            <a:ext cx="239344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B6673"/>
                </a:solidFill>
                <a:latin typeface="Calibri"/>
              </a:rPr>
              <a:t>dont sharpness, façade à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B6673"/>
                </a:solidFill>
                <a:latin typeface="Calibri"/>
              </a:rPr>
              <a:t>17 algos (5 familles)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331720"/>
            <a:ext cx="266776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95060" y="2560320"/>
            <a:ext cx="266776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3E8E7E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2220" y="3383280"/>
            <a:ext cx="239344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B222C"/>
                </a:solidFill>
                <a:latin typeface="Calibri"/>
              </a:rPr>
              <a:t>point d'entrée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2220" y="3749040"/>
            <a:ext cx="239344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B6673"/>
                </a:solidFill>
                <a:latin typeface="Calibri"/>
              </a:rPr>
              <a:t>list_metrics() affiche tout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B6673"/>
                </a:solidFill>
                <a:latin typeface="Calibri"/>
              </a:rPr>
              <a:t>le registre en un tableau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3990" y="2331720"/>
            <a:ext cx="2667762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8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63990" y="2560320"/>
            <a:ext cx="266776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3E8E7E"/>
                </a:solidFill>
                <a:latin typeface="Calibri"/>
              </a:rPr>
              <a:t>+7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1150" y="3383280"/>
            <a:ext cx="239344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B222C"/>
                </a:solidFill>
                <a:latin typeface="Calibri"/>
              </a:rPr>
              <a:t>★ nouveauté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1150" y="3749040"/>
            <a:ext cx="239344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B6673"/>
                </a:solidFill>
                <a:latin typeface="Calibri"/>
              </a:rPr>
              <a:t>métriques satellite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B6673"/>
                </a:solidFill>
                <a:latin typeface="Calibri"/>
              </a:rPr>
              <a:t>(brenner_vertical…sasbem)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09160"/>
            <a:ext cx="112471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B222C"/>
                </a:solidFill>
                <a:latin typeface="Calibri"/>
              </a:rPr>
              <a:t>En pratique :  installer  →  choisir bands (GRAY/RGB) et métriques  →  runner.compute() sur chaque paire  →  accumulate()  →  display_table() / save_csv().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B6673"/>
                </a:solidFill>
                <a:latin typeface="Calibri"/>
              </a:rPr>
              <a:t>eoqual-metrics — synthèse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52881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B6673"/>
                </a:solidFill>
                <a:latin typeface="Calibri"/>
              </a:rPr>
              <a:t>5</a:t>
            </a:r>
          </a:p>
        </p:txBody>
      </p:sp>
      <p:pic>
        <p:nvPicPr>
          <p:cNvPr id="26" name="EOQual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633" y="170000"/>
            <a:ext cx="934687" cy="45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694</Words>
  <Application>Microsoft Macintosh PowerPoint</Application>
  <PresentationFormat>Grand écran</PresentationFormat>
  <Paragraphs>103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Selma</cp:lastModifiedBy>
  <cp:revision>4</cp:revision>
  <dcterms:created xsi:type="dcterms:W3CDTF">2013-01-27T09:14:16Z</dcterms:created>
  <dcterms:modified xsi:type="dcterms:W3CDTF">2026-09-03T03:47:36Z</dcterms:modified>
  <cp:category/>
</cp:coreProperties>
</file>